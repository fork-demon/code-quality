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thanking the reviewer. The first version tried to teach the agent generic Java quality; the feedback was right, and this is what came out of it. One problem, one idea, one number, one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repo: reject orders whose total exceeds 100. Show git diff --stat on both branches. Every existing tool says both are fine. That is the gap, and it is specific to code generated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each. Do not relitigate. The reviewer said it was largely a question of where each piece earns its place. This slide is the placement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questions is new; any good reviewer asks them. What is new is that each has a concrete check the agent runs, so the answer is evidence rather than opinion. Then go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demo repo beforehand, branch verbose checked out, agent open. While the twin builds, talk through slide 4. If short on time, go straight to the recorded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Verbatim from demo/sample-review.md. The items on the right are the persuasive part: the extra code created a real bug and a real security opening, and the comparison is what surfaced them. This run predates the subagent and questions 2 to 4; the live review does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runs per iteration and nothing in the pack is a script. The hook is literally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point that static analysis belongs in CI as a required check. Agreed, and the review can live there too, through the PR agent's prompt. The pack itself stays local and advisory.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here. The reviewer's real question was net value against context cost, and only data answers it. Offer the calibration run as the first concrete step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1920240"/>
            <a:ext cx="10515600" cy="109728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Code Quality</a:t>
            </a:r>
            <a:endParaRPr lang="en-US" sz="5600" dirty="0"/>
          </a:p>
        </p:txBody>
      </p:sp>
      <p:sp>
        <p:nvSpPr>
          <p:cNvPr id="3" name="Text 1"/>
          <p:cNvSpPr txBox="1"/>
          <p:nvPr/>
        </p:nvSpPr>
        <p:spPr>
          <a:xfrm>
            <a:off x="731520" y="3017520"/>
            <a:ext cx="10058400" cy="822960"/>
          </a:xfrm>
          <a:prstGeom prst="rect">
            <a:avLst/>
          </a:prstGeom>
          <a:noFill/>
          <a:ln/>
        </p:spPr>
        <p:txBody>
          <a:bodyPr wrap="square" lIns="0" tIns="0" rIns="0" bIns="0" rtlCol="0" anchor="ctr"/>
          <a:lstStyle/>
          <a:p>
            <a:pPr indent="0" marL="0">
              <a:buNone/>
            </a:pPr>
            <a:r>
              <a:rPr lang="en-US" sz="2200" dirty="0">
                <a:solidFill>
                  <a:srgbClr val="CBD5E1"/>
                </a:solidFill>
                <a:latin typeface="Calibri" pitchFamily="34" charset="0"/>
                <a:ea typeface="Calibri" pitchFamily="34" charset="-122"/>
                <a:cs typeface="Calibri" pitchFamily="34" charset="-120"/>
              </a:rPr>
              <a:t>Four questions a senior reviewer asks of AI-written code, asked by the agent itself, with a real check for each.</a:t>
            </a:r>
            <a:endParaRPr lang="en-US" sz="2200" dirty="0"/>
          </a:p>
        </p:txBody>
      </p:sp>
      <p:sp>
        <p:nvSpPr>
          <p:cNvPr id="4" name="Text 2"/>
          <p:cNvSpPr txBox="1"/>
          <p:nvPr/>
        </p:nvSpPr>
        <p:spPr>
          <a:xfrm>
            <a:off x="731520" y="4023360"/>
            <a:ext cx="10058400" cy="457200"/>
          </a:xfrm>
          <a:prstGeom prst="rect">
            <a:avLst/>
          </a:prstGeom>
          <a:noFill/>
          <a:ln/>
        </p:spPr>
        <p:txBody>
          <a:bodyPr wrap="square" lIns="0" tIns="0" rIns="0" bIns="0" rtlCol="0" anchor="ctr"/>
          <a:lstStyle/>
          <a:p>
            <a:pPr indent="0" marL="0">
              <a:buNone/>
            </a:pPr>
            <a:r>
              <a:rPr lang="en-US" sz="1500" dirty="0">
                <a:solidFill>
                  <a:srgbClr val="94A3B8"/>
                </a:solidFill>
                <a:latin typeface="Calibri" pitchFamily="34" charset="0"/>
                <a:ea typeface="Calibri" pitchFamily="34" charset="-122"/>
                <a:cs typeface="Calibri" pitchFamily="34" charset="-120"/>
              </a:rPr>
              <a:t>Follow-up to the guardrails review. Fifteen minutes, with a live demo in Tabnine.</a:t>
            </a:r>
            <a:endParaRPr lang="en-US" sz="1500" dirty="0"/>
          </a:p>
        </p:txBody>
      </p:sp>
      <p:sp>
        <p:nvSpPr>
          <p:cNvPr id="5" name="Text 3"/>
          <p:cNvSpPr txBox="1"/>
          <p:nvPr/>
        </p:nvSpPr>
        <p:spPr>
          <a:xfrm>
            <a:off x="731520" y="5669280"/>
            <a:ext cx="10058400" cy="457200"/>
          </a:xfrm>
          <a:prstGeom prst="rect">
            <a:avLst/>
          </a:prstGeom>
          <a:noFill/>
          <a:ln/>
        </p:spPr>
        <p:txBody>
          <a:bodyPr wrap="square" lIns="0" tIns="0" rIns="0" bIns="0" rtlCol="0" anchor="ctr"/>
          <a:lstStyle/>
          <a:p>
            <a:pPr indent="0" marL="0">
              <a:buNone/>
            </a:pPr>
            <a:r>
              <a:rPr lang="en-US" sz="1500" dirty="0">
                <a:solidFill>
                  <a:srgbClr val="5EEAD4"/>
                </a:solidFill>
                <a:latin typeface="Calibri" pitchFamily="34" charset="0"/>
                <a:ea typeface="Calibri" pitchFamily="34" charset="-122"/>
                <a:cs typeface="Calibri" pitchFamily="34" charset="-120"/>
              </a:rPr>
              <a:t>About 300 lines of markdown. No scripts. No CI changes.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82296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Same feature. Same tests. Same green build.</a:t>
            </a:r>
            <a:endParaRPr lang="en-US" sz="3200" dirty="0"/>
          </a:p>
        </p:txBody>
      </p:sp>
      <p:sp>
        <p:nvSpPr>
          <p:cNvPr id="3" name="Shape 1"/>
          <p:cNvSpPr/>
          <p:nvPr/>
        </p:nvSpPr>
        <p:spPr>
          <a:xfrm>
            <a:off x="640080" y="1554480"/>
            <a:ext cx="5257800" cy="2926080"/>
          </a:xfrm>
          <a:prstGeom prst="roundRect">
            <a:avLst>
              <a:gd name="adj" fmla="val 2500"/>
            </a:avLst>
          </a:prstGeom>
          <a:solidFill>
            <a:srgbClr val="F1F5F9"/>
          </a:solidFill>
          <a:ln w="9525">
            <a:solidFill>
              <a:srgbClr val="E2E8F0"/>
            </a:solidFill>
            <a:prstDash val="solid"/>
          </a:ln>
        </p:spPr>
      </p:sp>
      <p:sp>
        <p:nvSpPr>
          <p:cNvPr id="4" name="Text 2"/>
          <p:cNvSpPr txBox="1"/>
          <p:nvPr/>
        </p:nvSpPr>
        <p:spPr>
          <a:xfrm>
            <a:off x="1005840" y="1737360"/>
            <a:ext cx="4572000" cy="1280160"/>
          </a:xfrm>
          <a:prstGeom prst="rect">
            <a:avLst/>
          </a:prstGeom>
          <a:noFill/>
          <a:ln/>
        </p:spPr>
        <p:txBody>
          <a:bodyPr wrap="square" lIns="0" tIns="0" rIns="0" bIns="0" rtlCol="0" anchor="ctr"/>
          <a:lstStyle/>
          <a:p>
            <a:pPr indent="0" marL="0">
              <a:buNone/>
            </a:pPr>
            <a:r>
              <a:rPr lang="en-US" sz="6800" b="1" dirty="0">
                <a:solidFill>
                  <a:srgbClr val="B45309"/>
                </a:solidFill>
                <a:latin typeface="Cambria" pitchFamily="34" charset="0"/>
                <a:ea typeface="Cambria" pitchFamily="34" charset="-122"/>
                <a:cs typeface="Cambria" pitchFamily="34" charset="-120"/>
              </a:rPr>
              <a:t>+368</a:t>
            </a:r>
            <a:endParaRPr lang="en-US" sz="6800" dirty="0"/>
          </a:p>
        </p:txBody>
      </p:sp>
      <p:sp>
        <p:nvSpPr>
          <p:cNvPr id="5" name="Text 3"/>
          <p:cNvSpPr txBox="1"/>
          <p:nvPr/>
        </p:nvSpPr>
        <p:spPr>
          <a:xfrm>
            <a:off x="1005840" y="3017520"/>
            <a:ext cx="4572000" cy="457200"/>
          </a:xfrm>
          <a:prstGeom prst="rect">
            <a:avLst/>
          </a:prstGeom>
          <a:noFill/>
          <a:ln/>
        </p:spPr>
        <p:txBody>
          <a:bodyPr wrap="square" lIns="0" tIns="0" rIns="0" bIns="0"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lines, six new files</a:t>
            </a:r>
            <a:endParaRPr lang="en-US" sz="1900" dirty="0"/>
          </a:p>
        </p:txBody>
      </p:sp>
      <p:sp>
        <p:nvSpPr>
          <p:cNvPr id="6" name="Text 4"/>
          <p:cNvSpPr txBox="1"/>
          <p:nvPr/>
        </p:nvSpPr>
        <p:spPr>
          <a:xfrm>
            <a:off x="1005840" y="3520440"/>
            <a:ext cx="4572000" cy="8229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An interface with one implementation, a builder for one field, a helper with one caller, a result wrapper, logging on every branch.</a:t>
            </a:r>
            <a:endParaRPr lang="en-US" sz="1300" dirty="0"/>
          </a:p>
        </p:txBody>
      </p:sp>
      <p:sp>
        <p:nvSpPr>
          <p:cNvPr id="7" name="Shape 5"/>
          <p:cNvSpPr/>
          <p:nvPr/>
        </p:nvSpPr>
        <p:spPr>
          <a:xfrm>
            <a:off x="6355080" y="1554480"/>
            <a:ext cx="5257800" cy="2926080"/>
          </a:xfrm>
          <a:prstGeom prst="roundRect">
            <a:avLst>
              <a:gd name="adj" fmla="val 2500"/>
            </a:avLst>
          </a:prstGeom>
          <a:solidFill>
            <a:srgbClr val="F1F5F9"/>
          </a:solidFill>
          <a:ln w="9525">
            <a:solidFill>
              <a:srgbClr val="E2E8F0"/>
            </a:solidFill>
            <a:prstDash val="solid"/>
          </a:ln>
        </p:spPr>
      </p:sp>
      <p:sp>
        <p:nvSpPr>
          <p:cNvPr id="8" name="Text 6"/>
          <p:cNvSpPr txBox="1"/>
          <p:nvPr/>
        </p:nvSpPr>
        <p:spPr>
          <a:xfrm>
            <a:off x="6720840" y="1737360"/>
            <a:ext cx="4572000" cy="1280160"/>
          </a:xfrm>
          <a:prstGeom prst="rect">
            <a:avLst/>
          </a:prstGeom>
          <a:noFill/>
          <a:ln/>
        </p:spPr>
        <p:txBody>
          <a:bodyPr wrap="square" lIns="0" tIns="0" rIns="0" bIns="0" rtlCol="0" anchor="ctr"/>
          <a:lstStyle/>
          <a:p>
            <a:pPr indent="0" marL="0">
              <a:buNone/>
            </a:pPr>
            <a:r>
              <a:rPr lang="en-US" sz="6800" b="1" dirty="0">
                <a:solidFill>
                  <a:srgbClr val="0F766E"/>
                </a:solidFill>
                <a:latin typeface="Cambria" pitchFamily="34" charset="0"/>
                <a:ea typeface="Cambria" pitchFamily="34" charset="-122"/>
                <a:cs typeface="Cambria" pitchFamily="34" charset="-120"/>
              </a:rPr>
              <a:t>+36</a:t>
            </a:r>
            <a:endParaRPr lang="en-US" sz="6800" dirty="0"/>
          </a:p>
        </p:txBody>
      </p:sp>
      <p:sp>
        <p:nvSpPr>
          <p:cNvPr id="9" name="Text 7"/>
          <p:cNvSpPr txBox="1"/>
          <p:nvPr/>
        </p:nvSpPr>
        <p:spPr>
          <a:xfrm>
            <a:off x="6720840" y="3017520"/>
            <a:ext cx="4572000" cy="457200"/>
          </a:xfrm>
          <a:prstGeom prst="rect">
            <a:avLst/>
          </a:prstGeom>
          <a:noFill/>
          <a:ln/>
        </p:spPr>
        <p:txBody>
          <a:bodyPr wrap="square" lIns="0" tIns="0" rIns="0" bIns="0"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lines, one if statement</a:t>
            </a:r>
            <a:endParaRPr lang="en-US" sz="1900" dirty="0"/>
          </a:p>
        </p:txBody>
      </p:sp>
      <p:sp>
        <p:nvSpPr>
          <p:cNvPr id="10" name="Text 8"/>
          <p:cNvSpPr txBox="1"/>
          <p:nvPr/>
        </p:nvSpPr>
        <p:spPr>
          <a:xfrm>
            <a:off x="6720840" y="3520440"/>
            <a:ext cx="4572000" cy="8229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 constant, one check, one exception, three tests at the boundaries.</a:t>
            </a:r>
            <a:endParaRPr lang="en-US" sz="1300" dirty="0"/>
          </a:p>
        </p:txBody>
      </p:sp>
      <p:sp>
        <p:nvSpPr>
          <p:cNvPr id="11" name="Text 9"/>
          <p:cNvSpPr txBox="1"/>
          <p:nvPr/>
        </p:nvSpPr>
        <p:spPr>
          <a:xfrm>
            <a:off x="640080" y="4800600"/>
            <a:ext cx="10972800" cy="91440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Both pass Checkstyle, PMD and the tests. Sonar and the PR bots would pass both as well, because nothing is wrong. It is simply three hundred lines nobody needed, and at the speed we now merge, that adds up.</a:t>
            </a:r>
            <a:endParaRPr lang="en-US" sz="1600" dirty="0"/>
          </a:p>
        </p:txBody>
      </p:sp>
      <p:sp>
        <p:nvSpPr>
          <p:cNvPr id="12" name="Text 10"/>
          <p:cNvSpPr txBox="1"/>
          <p:nvPr/>
        </p:nvSpPr>
        <p:spPr>
          <a:xfrm>
            <a:off x="640080" y="5715000"/>
            <a:ext cx="10972800" cy="54864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Our tools find what is wrong. Nothing looks for what is unnecessary, out of place, untested or fragile at the edges.</a:t>
            </a:r>
            <a:endParaRPr lang="en-US" sz="1800" dirty="0"/>
          </a:p>
        </p:txBody>
      </p:sp>
      <p:sp>
        <p:nvSpPr>
          <p:cNvPr id="13" name="Text 1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Code Quality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82296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The review raised five points. All five are in.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972800" cy="914400"/>
        </p:xfrm>
        <a:graphic>
          <a:graphicData uri="http://schemas.openxmlformats.org/drawingml/2006/table">
            <a:tbl>
              <a:tblPr/>
              <a:tblGrid>
                <a:gridCol w="3840480"/>
                <a:gridCol w="7132320"/>
              </a:tblGrid>
              <a:tr h="777240">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Static analysis inside the agent loop</a:t>
                      </a:r>
                      <a:endParaRPr lang="en-US" sz="140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Removed. An optional hook runs the repo's own gradle check once per task. CI stays the authority.</a:t>
                      </a:r>
                      <a:endParaRPr lang="en-US" sz="140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tcPr>
                </a:tc>
              </a:tr>
              <a:tr h="777240">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Pattern tables are too narrow</a:t>
                      </a:r>
                      <a:endParaRPr lang="en-US" sz="140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Removed. Over-engineering is now something the review looks for, not a table.</a:t>
                      </a:r>
                      <a:endParaRPr lang="en-US" sz="140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tcPr>
                </a:tc>
              </a:tr>
              <a:tr h="777240">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Do not restate linter rules in prose</a:t>
                      </a:r>
                      <a:endParaRPr lang="en-US" sz="140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Removed. The pack ships no rulesets. The build is the single source of truth.</a:t>
                      </a:r>
                      <a:endParaRPr lang="en-US" sz="140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tcPr>
                </a:tc>
              </a:tr>
              <a:tr h="777240">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Generic fakes will not transfer</a:t>
                      </a:r>
                      <a:endParaRPr lang="en-US" sz="140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Trimmed to one rule: follow the repo's own fake. Repo-specific examples live in the repo.</a:t>
                      </a:r>
                      <a:endParaRPr lang="en-US" sz="140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tcPr>
                </a:tc>
              </a:tr>
              <a:tr h="777240">
                <a:tc>
                  <a:txBody>
                    <a:bodyPr/>
                    <a:lstStyle/>
                    <a:p>
                      <a:pPr indent="0" marL="0">
                        <a:buNone/>
                      </a:pPr>
                      <a:r>
                        <a:rPr lang="en-US" sz="1400" b="1" dirty="0">
                          <a:solidFill>
                            <a:srgbClr val="1F2937"/>
                          </a:solidFill>
                          <a:latin typeface="Calibri" pitchFamily="34" charset="0"/>
                          <a:ea typeface="Calibri" pitchFamily="34" charset="-122"/>
                          <a:cs typeface="Calibri" pitchFamily="34" charset="-120"/>
                        </a:rPr>
                        <a:t>The multi-agent reviewer is the good part</a:t>
                      </a:r>
                      <a:endParaRPr lang="en-US" sz="140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Kept and sharpened: four questions, each with a check that produces evidence.</a:t>
                      </a:r>
                      <a:endParaRPr lang="en-US" sz="140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tcPr>
                </a:tc>
              </a:tr>
            </a:tbl>
          </a:graphicData>
        </a:graphic>
      </p:graphicFrame>
      <p:sp>
        <p:nvSpPr>
          <p:cNvPr id="4" name="Text 1"/>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Code Quality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82296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Four questions, one real check each</a:t>
            </a:r>
            <a:endParaRPr lang="en-US" sz="3200" dirty="0"/>
          </a:p>
        </p:txBody>
      </p:sp>
      <p:sp>
        <p:nvSpPr>
          <p:cNvPr id="3" name="Shape 1"/>
          <p:cNvSpPr/>
          <p:nvPr/>
        </p:nvSpPr>
        <p:spPr>
          <a:xfrm>
            <a:off x="640080" y="1463040"/>
            <a:ext cx="5394960" cy="2194560"/>
          </a:xfrm>
          <a:prstGeom prst="roundRect">
            <a:avLst>
              <a:gd name="adj" fmla="val 3333"/>
            </a:avLst>
          </a:prstGeom>
          <a:solidFill>
            <a:srgbClr val="0B1220"/>
          </a:solidFill>
          <a:ln w="9525">
            <a:solidFill>
              <a:srgbClr val="0B1220"/>
            </a:solidFill>
            <a:prstDash val="solid"/>
          </a:ln>
        </p:spPr>
      </p:sp>
      <p:sp>
        <p:nvSpPr>
          <p:cNvPr id="4" name="Text 2"/>
          <p:cNvSpPr txBox="1"/>
          <p:nvPr/>
        </p:nvSpPr>
        <p:spPr>
          <a:xfrm>
            <a:off x="914400" y="1664208"/>
            <a:ext cx="548640" cy="457200"/>
          </a:xfrm>
          <a:prstGeom prst="rect">
            <a:avLst/>
          </a:prstGeom>
          <a:noFill/>
          <a:ln/>
        </p:spPr>
        <p:txBody>
          <a:bodyPr wrap="square" lIns="0" tIns="0" rIns="0" bIns="0" rtlCol="0" anchor="ctr"/>
          <a:lstStyle/>
          <a:p>
            <a:pPr indent="0" marL="0">
              <a:buNone/>
            </a:pPr>
            <a:r>
              <a:rPr lang="en-US" sz="2600" b="1" dirty="0">
                <a:solidFill>
                  <a:srgbClr val="5EEAD4"/>
                </a:solidFill>
                <a:latin typeface="Cambria" pitchFamily="34" charset="0"/>
                <a:ea typeface="Cambria" pitchFamily="34" charset="-122"/>
                <a:cs typeface="Cambria" pitchFamily="34" charset="-120"/>
              </a:rPr>
              <a:t>1</a:t>
            </a:r>
            <a:endParaRPr lang="en-US" sz="2600" dirty="0"/>
          </a:p>
        </p:txBody>
      </p:sp>
      <p:sp>
        <p:nvSpPr>
          <p:cNvPr id="5" name="Text 3"/>
          <p:cNvSpPr txBox="1"/>
          <p:nvPr/>
        </p:nvSpPr>
        <p:spPr>
          <a:xfrm>
            <a:off x="1463040" y="1682496"/>
            <a:ext cx="43891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any of it unnecessary?</a:t>
            </a:r>
            <a:endParaRPr lang="en-US" sz="1800" dirty="0"/>
          </a:p>
        </p:txBody>
      </p:sp>
      <p:sp>
        <p:nvSpPr>
          <p:cNvPr id="6" name="Text 4"/>
          <p:cNvSpPr txBox="1"/>
          <p:nvPr/>
        </p:nvSpPr>
        <p:spPr>
          <a:xfrm>
            <a:off x="914400" y="2240280"/>
            <a:ext cx="4846320" cy="1325880"/>
          </a:xfrm>
          <a:prstGeom prst="rect">
            <a:avLst/>
          </a:prstGeom>
          <a:noFill/>
          <a:ln/>
        </p:spPr>
        <p:txBody>
          <a:bodyPr wrap="square" lIns="0" tIns="0" rIns="0" bIns="0" rtlCol="0" anchor="t"/>
          <a:lstStyle/>
          <a:p>
            <a:pPr indent="0" marL="0">
              <a:buNone/>
            </a:pPr>
            <a:r>
              <a:rPr lang="en-US" sz="1300" dirty="0">
                <a:solidFill>
                  <a:srgbClr val="E2E8F0"/>
                </a:solidFill>
                <a:latin typeface="Calibri" pitchFamily="34" charset="0"/>
                <a:ea typeface="Calibri" pitchFamily="34" charset="-122"/>
                <a:cs typeface="Calibri" pitchFamily="34" charset="-120"/>
              </a:rPr>
              <a:t>Build a minimal twin. A separate subagent gets only the brief (Given, When, Then) and the base code, never the change, and makes it pass with the fewest new lines. Then compare: a size ratio, and for every extra piece, what breaks if we delete it?</a:t>
            </a:r>
            <a:endParaRPr lang="en-US" sz="1300" dirty="0"/>
          </a:p>
        </p:txBody>
      </p:sp>
      <p:sp>
        <p:nvSpPr>
          <p:cNvPr id="7" name="Shape 5"/>
          <p:cNvSpPr/>
          <p:nvPr/>
        </p:nvSpPr>
        <p:spPr>
          <a:xfrm>
            <a:off x="6217920" y="1463040"/>
            <a:ext cx="5394960" cy="2194560"/>
          </a:xfrm>
          <a:prstGeom prst="roundRect">
            <a:avLst>
              <a:gd name="adj" fmla="val 3333"/>
            </a:avLst>
          </a:prstGeom>
          <a:solidFill>
            <a:srgbClr val="F1F5F9"/>
          </a:solidFill>
          <a:ln w="9525">
            <a:solidFill>
              <a:srgbClr val="E2E8F0"/>
            </a:solidFill>
            <a:prstDash val="solid"/>
          </a:ln>
        </p:spPr>
      </p:sp>
      <p:sp>
        <p:nvSpPr>
          <p:cNvPr id="8" name="Text 6"/>
          <p:cNvSpPr txBox="1"/>
          <p:nvPr/>
        </p:nvSpPr>
        <p:spPr>
          <a:xfrm>
            <a:off x="6492240" y="1664208"/>
            <a:ext cx="548640" cy="457200"/>
          </a:xfrm>
          <a:prstGeom prst="rect">
            <a:avLst/>
          </a:prstGeom>
          <a:noFill/>
          <a:ln/>
        </p:spPr>
        <p:txBody>
          <a:bodyPr wrap="square" lIns="0" tIns="0" rIns="0" bIns="0" rtlCol="0" anchor="ctr"/>
          <a:lstStyle/>
          <a:p>
            <a:pPr indent="0" marL="0">
              <a:buNone/>
            </a:pPr>
            <a:r>
              <a:rPr lang="en-US" sz="2600" b="1" dirty="0">
                <a:solidFill>
                  <a:srgbClr val="0F766E"/>
                </a:solidFill>
                <a:latin typeface="Cambria" pitchFamily="34" charset="0"/>
                <a:ea typeface="Cambria" pitchFamily="34" charset="-122"/>
                <a:cs typeface="Cambria" pitchFamily="34" charset="-120"/>
              </a:rPr>
              <a:t>2</a:t>
            </a:r>
            <a:endParaRPr lang="en-US" sz="2600" dirty="0"/>
          </a:p>
        </p:txBody>
      </p:sp>
      <p:sp>
        <p:nvSpPr>
          <p:cNvPr id="9" name="Text 7"/>
          <p:cNvSpPr txBox="1"/>
          <p:nvPr/>
        </p:nvSpPr>
        <p:spPr>
          <a:xfrm>
            <a:off x="7040880" y="1682496"/>
            <a:ext cx="4389120" cy="457200"/>
          </a:xfrm>
          <a:prstGeom prst="rect">
            <a:avLst/>
          </a:prstGeom>
          <a:noFill/>
          <a:ln/>
        </p:spPr>
        <p:txBody>
          <a:bodyPr wrap="square" lIns="0" tIns="0" rIns="0" bIns="0"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Does it fit this codebase?</a:t>
            </a:r>
            <a:endParaRPr lang="en-US" sz="1800" dirty="0"/>
          </a:p>
        </p:txBody>
      </p:sp>
      <p:sp>
        <p:nvSpPr>
          <p:cNvPr id="10" name="Text 8"/>
          <p:cNvSpPr txBox="1"/>
          <p:nvPr/>
        </p:nvSpPr>
        <p:spPr>
          <a:xfrm>
            <a:off x="6492240" y="2240280"/>
            <a:ext cx="4846320" cy="13258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Find the nearest neighbour: the existing code that does the most similar thing. Compare approach, helpers, naming and error handling. Do it the way X does it. Use the existing Y.</a:t>
            </a:r>
            <a:endParaRPr lang="en-US" sz="1300" dirty="0"/>
          </a:p>
        </p:txBody>
      </p:sp>
      <p:sp>
        <p:nvSpPr>
          <p:cNvPr id="11" name="Shape 9"/>
          <p:cNvSpPr/>
          <p:nvPr/>
        </p:nvSpPr>
        <p:spPr>
          <a:xfrm>
            <a:off x="640080" y="3886200"/>
            <a:ext cx="5394960" cy="2194560"/>
          </a:xfrm>
          <a:prstGeom prst="roundRect">
            <a:avLst>
              <a:gd name="adj" fmla="val 3333"/>
            </a:avLst>
          </a:prstGeom>
          <a:solidFill>
            <a:srgbClr val="F1F5F9"/>
          </a:solidFill>
          <a:ln w="9525">
            <a:solidFill>
              <a:srgbClr val="E2E8F0"/>
            </a:solidFill>
            <a:prstDash val="solid"/>
          </a:ln>
        </p:spPr>
      </p:sp>
      <p:sp>
        <p:nvSpPr>
          <p:cNvPr id="12" name="Text 10"/>
          <p:cNvSpPr txBox="1"/>
          <p:nvPr/>
        </p:nvSpPr>
        <p:spPr>
          <a:xfrm>
            <a:off x="914400" y="4087368"/>
            <a:ext cx="548640" cy="457200"/>
          </a:xfrm>
          <a:prstGeom prst="rect">
            <a:avLst/>
          </a:prstGeom>
          <a:noFill/>
          <a:ln/>
        </p:spPr>
        <p:txBody>
          <a:bodyPr wrap="square" lIns="0" tIns="0" rIns="0" bIns="0" rtlCol="0" anchor="ctr"/>
          <a:lstStyle/>
          <a:p>
            <a:pPr indent="0" marL="0">
              <a:buNone/>
            </a:pPr>
            <a:r>
              <a:rPr lang="en-US" sz="2600" b="1" dirty="0">
                <a:solidFill>
                  <a:srgbClr val="0F766E"/>
                </a:solidFill>
                <a:latin typeface="Cambria" pitchFamily="34" charset="0"/>
                <a:ea typeface="Cambria" pitchFamily="34" charset="-122"/>
                <a:cs typeface="Cambria" pitchFamily="34" charset="-120"/>
              </a:rPr>
              <a:t>3</a:t>
            </a:r>
            <a:endParaRPr lang="en-US" sz="2600" dirty="0"/>
          </a:p>
        </p:txBody>
      </p:sp>
      <p:sp>
        <p:nvSpPr>
          <p:cNvPr id="13" name="Text 11"/>
          <p:cNvSpPr txBox="1"/>
          <p:nvPr/>
        </p:nvSpPr>
        <p:spPr>
          <a:xfrm>
            <a:off x="1463040" y="4105656"/>
            <a:ext cx="4389120" cy="457200"/>
          </a:xfrm>
          <a:prstGeom prst="rect">
            <a:avLst/>
          </a:prstGeom>
          <a:noFill/>
          <a:ln/>
        </p:spPr>
        <p:txBody>
          <a:bodyPr wrap="square" lIns="0" tIns="0" rIns="0" bIns="0" rtlCol="0" anchor="ctr"/>
          <a:lstStyle/>
          <a:p>
            <a:pPr indent="0" marL="0">
              <a:buNone/>
            </a:pPr>
            <a:r>
              <a:rPr lang="en-US" sz="1800" b="1" dirty="0">
                <a:solidFill>
                  <a:srgbClr val="1F2937"/>
                </a:solidFill>
                <a:latin typeface="Calibri" pitchFamily="34" charset="0"/>
                <a:ea typeface="Calibri" pitchFamily="34" charset="-122"/>
                <a:cs typeface="Calibri" pitchFamily="34" charset="-120"/>
              </a:rPr>
              <a:t>Do the tests really test it?</a:t>
            </a:r>
            <a:endParaRPr lang="en-US" sz="1800" dirty="0"/>
          </a:p>
        </p:txBody>
      </p:sp>
      <p:sp>
        <p:nvSpPr>
          <p:cNvPr id="14" name="Text 12"/>
          <p:cNvSpPr txBox="1"/>
          <p:nvPr/>
        </p:nvSpPr>
        <p:spPr>
          <a:xfrm>
            <a:off x="914400" y="4663440"/>
            <a:ext cx="4846320" cy="13258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Break the new logic on purpose and run the tests. If they stay green, they are not testing it. Also look for mocks that verify every call instead of checking a result, and for the missing test at the exact boundary.</a:t>
            </a:r>
            <a:endParaRPr lang="en-US" sz="1300" dirty="0"/>
          </a:p>
        </p:txBody>
      </p:sp>
      <p:sp>
        <p:nvSpPr>
          <p:cNvPr id="15" name="Shape 13"/>
          <p:cNvSpPr/>
          <p:nvPr/>
        </p:nvSpPr>
        <p:spPr>
          <a:xfrm>
            <a:off x="6217920" y="3886200"/>
            <a:ext cx="5394960" cy="2194560"/>
          </a:xfrm>
          <a:prstGeom prst="roundRect">
            <a:avLst>
              <a:gd name="adj" fmla="val 3333"/>
            </a:avLst>
          </a:prstGeom>
          <a:solidFill>
            <a:srgbClr val="0B1220"/>
          </a:solidFill>
          <a:ln w="9525">
            <a:solidFill>
              <a:srgbClr val="0B1220"/>
            </a:solidFill>
            <a:prstDash val="solid"/>
          </a:ln>
        </p:spPr>
      </p:sp>
      <p:sp>
        <p:nvSpPr>
          <p:cNvPr id="16" name="Text 14"/>
          <p:cNvSpPr txBox="1"/>
          <p:nvPr/>
        </p:nvSpPr>
        <p:spPr>
          <a:xfrm>
            <a:off x="6492240" y="4087368"/>
            <a:ext cx="548640" cy="457200"/>
          </a:xfrm>
          <a:prstGeom prst="rect">
            <a:avLst/>
          </a:prstGeom>
          <a:noFill/>
          <a:ln/>
        </p:spPr>
        <p:txBody>
          <a:bodyPr wrap="square" lIns="0" tIns="0" rIns="0" bIns="0" rtlCol="0" anchor="ctr"/>
          <a:lstStyle/>
          <a:p>
            <a:pPr indent="0" marL="0">
              <a:buNone/>
            </a:pPr>
            <a:r>
              <a:rPr lang="en-US" sz="2600" b="1" dirty="0">
                <a:solidFill>
                  <a:srgbClr val="5EEAD4"/>
                </a:solidFill>
                <a:latin typeface="Cambria" pitchFamily="34" charset="0"/>
                <a:ea typeface="Cambria" pitchFamily="34" charset="-122"/>
                <a:cs typeface="Cambria" pitchFamily="34" charset="-120"/>
              </a:rPr>
              <a:t>4</a:t>
            </a:r>
            <a:endParaRPr lang="en-US" sz="2600" dirty="0"/>
          </a:p>
        </p:txBody>
      </p:sp>
      <p:sp>
        <p:nvSpPr>
          <p:cNvPr id="17" name="Text 15"/>
          <p:cNvSpPr txBox="1"/>
          <p:nvPr/>
        </p:nvSpPr>
        <p:spPr>
          <a:xfrm>
            <a:off x="7040880" y="4105656"/>
            <a:ext cx="43891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Is it safe at the edges?</a:t>
            </a:r>
            <a:endParaRPr lang="en-US" sz="1800" dirty="0"/>
          </a:p>
        </p:txBody>
      </p:sp>
      <p:sp>
        <p:nvSpPr>
          <p:cNvPr id="18" name="Text 16"/>
          <p:cNvSpPr txBox="1"/>
          <p:nvPr/>
        </p:nvSpPr>
        <p:spPr>
          <a:xfrm>
            <a:off x="6492240" y="4663440"/>
            <a:ext cx="4846320" cy="1325880"/>
          </a:xfrm>
          <a:prstGeom prst="rect">
            <a:avLst/>
          </a:prstGeom>
          <a:noFill/>
          <a:ln/>
        </p:spPr>
        <p:txBody>
          <a:bodyPr wrap="square" lIns="0" tIns="0" rIns="0" bIns="0" rtlCol="0" anchor="t"/>
          <a:lstStyle/>
          <a:p>
            <a:pPr indent="0" marL="0">
              <a:buNone/>
            </a:pPr>
            <a:r>
              <a:rPr lang="en-US" sz="1300" dirty="0">
                <a:solidFill>
                  <a:srgbClr val="E2E8F0"/>
                </a:solidFill>
                <a:latin typeface="Calibri" pitchFamily="34" charset="0"/>
                <a:ea typeface="Calibri" pitchFamily="34" charset="-122"/>
                <a:cs typeface="Calibri" pitchFamily="34" charset="-120"/>
              </a:rPr>
              <a:t>Walk the exact limit, empty, null and the first failure in a loop by reading the path, not assuming. Follow external input to queries, logs and error messages. Compare new entry points with their neighbours' authorisation.</a:t>
            </a:r>
            <a:endParaRPr lang="en-US" sz="1300" dirty="0"/>
          </a:p>
        </p:txBody>
      </p:sp>
      <p:sp>
        <p:nvSpPr>
          <p:cNvPr id="19" name="Text 17"/>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Code Quality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1280160"/>
            <a:ext cx="10515600" cy="548640"/>
          </a:xfrm>
          <a:prstGeom prst="rect">
            <a:avLst/>
          </a:prstGeom>
          <a:noFill/>
          <a:ln/>
        </p:spPr>
        <p:txBody>
          <a:bodyPr wrap="square" lIns="0" tIns="0" rIns="0" bIns="0" rtlCol="0" anchor="ctr"/>
          <a:lstStyle/>
          <a:p>
            <a:pPr indent="0" marL="0">
              <a:buNone/>
            </a:pPr>
            <a:r>
              <a:rPr lang="en-US" sz="1600" b="1" dirty="0">
                <a:solidFill>
                  <a:srgbClr val="5EEAD4"/>
                </a:solidFill>
                <a:latin typeface="Calibri" pitchFamily="34" charset="0"/>
                <a:ea typeface="Calibri" pitchFamily="34" charset="-122"/>
                <a:cs typeface="Calibri" pitchFamily="34" charset="-120"/>
              </a:rPr>
              <a:t>Live demo</a:t>
            </a:r>
            <a:endParaRPr lang="en-US" sz="1600" dirty="0"/>
          </a:p>
        </p:txBody>
      </p:sp>
      <p:sp>
        <p:nvSpPr>
          <p:cNvPr id="3" name="Text 1"/>
          <p:cNvSpPr txBox="1"/>
          <p:nvPr/>
        </p:nvSpPr>
        <p:spPr>
          <a:xfrm>
            <a:off x="731520" y="1828800"/>
            <a:ext cx="1051560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/quality-review on the verbose branch</a:t>
            </a:r>
            <a:endParaRPr lang="en-US" sz="3800" dirty="0"/>
          </a:p>
        </p:txBody>
      </p:sp>
      <p:sp>
        <p:nvSpPr>
          <p:cNvPr id="4" name="Text 2"/>
          <p:cNvSpPr txBox="1"/>
          <p:nvPr/>
        </p:nvSpPr>
        <p:spPr>
          <a:xfrm>
            <a:off x="731520" y="3017520"/>
            <a:ext cx="10515600" cy="2377440"/>
          </a:xfrm>
          <a:prstGeom prst="rect">
            <a:avLst/>
          </a:prstGeom>
          <a:noFill/>
          <a:ln/>
        </p:spPr>
        <p:txBody>
          <a:bodyPr wrap="square" lIns="0" tIns="0" rIns="0" bIns="0" rtlCol="0" anchor="ctr"/>
          <a:lstStyle/>
          <a:p>
            <a:pPr marL="342900" indent="-342900">
              <a:spcAft>
                <a:spcPts val="1000"/>
              </a:spcAft>
              <a:buSzPct val="100000"/>
              <a:buChar char="▪"/>
            </a:pPr>
            <a:r>
              <a:rPr lang="en-US" sz="1900" dirty="0">
                <a:solidFill>
                  <a:srgbClr val="E2E8F0"/>
                </a:solidFill>
                <a:latin typeface="Calibri" pitchFamily="34" charset="0"/>
                <a:ea typeface="Calibri" pitchFamily="34" charset="-122"/>
                <a:cs typeface="Calibri" pitchFamily="34" charset="-120"/>
              </a:rPr>
              <a:t>gradle check: green</a:t>
            </a:r>
            <a:endParaRPr lang="en-US" sz="1900" dirty="0"/>
          </a:p>
          <a:p>
            <a:pPr marL="342900" indent="-342900">
              <a:spcAft>
                <a:spcPts val="1000"/>
              </a:spcAft>
              <a:buSzPct val="100000"/>
              <a:buChar char="▪"/>
            </a:pPr>
            <a:r>
              <a:rPr lang="en-US" sz="1900" dirty="0">
                <a:solidFill>
                  <a:srgbClr val="E2E8F0"/>
                </a:solidFill>
                <a:latin typeface="Calibri" pitchFamily="34" charset="0"/>
                <a:ea typeface="Calibri" pitchFamily="34" charset="-122"/>
                <a:cs typeface="Calibri" pitchFamily="34" charset="-120"/>
              </a:rPr>
              <a:t>/quality-review: four answers in about five minutes. Ratio and delete list, fit, tests that lie, edge bugs</a:t>
            </a:r>
            <a:endParaRPr lang="en-US" sz="1900" dirty="0"/>
          </a:p>
          <a:p>
            <a:pPr marL="342900" indent="-342900">
              <a:spcAft>
                <a:spcPts val="1000"/>
              </a:spcAft>
              <a:buSzPct val="100000"/>
              <a:buChar char="▪"/>
            </a:pPr>
            <a:r>
              <a:rPr lang="en-US" sz="1900" dirty="0">
                <a:solidFill>
                  <a:srgbClr val="E2E8F0"/>
                </a:solidFill>
                <a:latin typeface="Calibri" pitchFamily="34" charset="0"/>
                <a:ea typeface="Calibri" pitchFamily="34" charset="-122"/>
                <a:cs typeface="Calibri" pitchFamily="34" charset="-120"/>
              </a:rPr>
              <a:t>Say yes: the agent applies the findings and the diff heads toward +36</a:t>
            </a:r>
            <a:endParaRPr lang="en-US" sz="1900" dirty="0"/>
          </a:p>
          <a:p>
            <a:pPr marL="342900" indent="-342900">
              <a:spcAft>
                <a:spcPts val="1000"/>
              </a:spcAft>
              <a:buSzPct val="100000"/>
              <a:buChar char="▪"/>
            </a:pPr>
            <a:r>
              <a:rPr lang="en-US" sz="1900" dirty="0">
                <a:solidFill>
                  <a:srgbClr val="E2E8F0"/>
                </a:solidFill>
                <a:latin typeface="Calibri" pitchFamily="34" charset="0"/>
                <a:ea typeface="Calibri" pitchFamily="34" charset="-122"/>
                <a:cs typeface="Calibri" pitchFamily="34" charset="-120"/>
              </a:rPr>
              <a:t>gradle check: still green</a:t>
            </a:r>
            <a:endParaRPr lang="en-US" sz="1900" dirty="0"/>
          </a:p>
        </p:txBody>
      </p:sp>
      <p:sp>
        <p:nvSpPr>
          <p:cNvPr id="5" name="Text 3"/>
          <p:cNvSpPr txBox="1"/>
          <p:nvPr/>
        </p:nvSpPr>
        <p:spPr>
          <a:xfrm>
            <a:off x="731520" y="5669280"/>
            <a:ext cx="10515600" cy="45720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If there is no network: demo/sample-review.md holds a recorded run, shown on the next slide.</a:t>
            </a:r>
            <a:endParaRPr lang="en-US" sz="1300" dirty="0"/>
          </a:p>
        </p:txBody>
      </p:sp>
      <p:sp>
        <p:nvSpPr>
          <p:cNvPr id="6" name="Text 4"/>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Code Quality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82296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A real run of question 1, unedited, four minutes</a:t>
            </a:r>
            <a:endParaRPr lang="en-US" sz="3200" dirty="0"/>
          </a:p>
        </p:txBody>
      </p:sp>
      <p:sp>
        <p:nvSpPr>
          <p:cNvPr id="3" name="Shape 1"/>
          <p:cNvSpPr/>
          <p:nvPr/>
        </p:nvSpPr>
        <p:spPr>
          <a:xfrm>
            <a:off x="640080" y="1463040"/>
            <a:ext cx="3840480" cy="4480560"/>
          </a:xfrm>
          <a:prstGeom prst="roundRect">
            <a:avLst>
              <a:gd name="adj" fmla="val 1905"/>
            </a:avLst>
          </a:prstGeom>
          <a:solidFill>
            <a:srgbClr val="0B1220"/>
          </a:solidFill>
          <a:ln w="9525">
            <a:solidFill>
              <a:srgbClr val="0B1220"/>
            </a:solidFill>
            <a:prstDash val="solid"/>
          </a:ln>
        </p:spPr>
      </p:sp>
      <p:sp>
        <p:nvSpPr>
          <p:cNvPr id="4" name="Text 2"/>
          <p:cNvSpPr txBox="1"/>
          <p:nvPr/>
        </p:nvSpPr>
        <p:spPr>
          <a:xfrm>
            <a:off x="914400" y="1645920"/>
            <a:ext cx="3291840" cy="1463040"/>
          </a:xfrm>
          <a:prstGeom prst="rect">
            <a:avLst/>
          </a:prstGeom>
          <a:noFill/>
          <a:ln/>
        </p:spPr>
        <p:txBody>
          <a:bodyPr wrap="square" lIns="0" tIns="0" rIns="0" bIns="0" rtlCol="0" anchor="ctr"/>
          <a:lstStyle/>
          <a:p>
            <a:pPr indent="0" marL="0">
              <a:buNone/>
            </a:pPr>
            <a:r>
              <a:rPr lang="en-US" sz="8000" b="1" dirty="0">
                <a:solidFill>
                  <a:srgbClr val="5EEAD4"/>
                </a:solidFill>
                <a:latin typeface="Cambria" pitchFamily="34" charset="0"/>
                <a:ea typeface="Cambria" pitchFamily="34" charset="-122"/>
                <a:cs typeface="Cambria" pitchFamily="34" charset="-120"/>
              </a:rPr>
              <a:t>7.8x</a:t>
            </a:r>
            <a:endParaRPr lang="en-US" sz="8000" dirty="0"/>
          </a:p>
        </p:txBody>
      </p:sp>
      <p:sp>
        <p:nvSpPr>
          <p:cNvPr id="5" name="Text 3"/>
          <p:cNvSpPr txBox="1"/>
          <p:nvPr/>
        </p:nvSpPr>
        <p:spPr>
          <a:xfrm>
            <a:off x="914400" y="3063240"/>
            <a:ext cx="3291840" cy="54864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the change is 7.8 times its minimal size</a:t>
            </a:r>
            <a:endParaRPr lang="en-US" sz="1400" dirty="0"/>
          </a:p>
        </p:txBody>
      </p:sp>
      <p:sp>
        <p:nvSpPr>
          <p:cNvPr id="6" name="Text 4"/>
          <p:cNvSpPr txBox="1"/>
          <p:nvPr/>
        </p:nvSpPr>
        <p:spPr>
          <a:xfrm>
            <a:off x="914400" y="3749040"/>
            <a:ext cx="3291840" cy="1371600"/>
          </a:xfrm>
          <a:prstGeom prst="rect">
            <a:avLst/>
          </a:prstGeom>
          <a:noFill/>
          <a:ln/>
        </p:spPr>
        <p:txBody>
          <a:bodyPr wrap="square" lIns="0" tIns="0" rIns="0" bIns="0" rtlCol="0" anchor="ctr"/>
          <a:lstStyle/>
          <a:p>
            <a:pPr indent="0" marL="0">
              <a:spcAft>
                <a:spcPts val="600"/>
              </a:spcAft>
              <a:buNone/>
            </a:pPr>
            <a:r>
              <a:rPr lang="en-US" sz="1300" dirty="0">
                <a:solidFill>
                  <a:srgbClr val="E2E8F0"/>
                </a:solidFill>
                <a:latin typeface="Calibri" pitchFamily="34" charset="0"/>
                <a:ea typeface="Calibri" pitchFamily="34" charset="-122"/>
                <a:cs typeface="Calibri" pitchFamily="34" charset="-120"/>
              </a:rPr>
              <a:t>Twin: 47 lines, 2 declarations</a:t>
            </a:r>
            <a:endParaRPr lang="en-US" sz="1300" dirty="0"/>
          </a:p>
          <a:p>
            <a:pPr indent="0" marL="0">
              <a:spcAft>
                <a:spcPts val="600"/>
              </a:spcAft>
              <a:buNone/>
            </a:pPr>
            <a:r>
              <a:rPr lang="en-US" sz="1300" dirty="0">
                <a:solidFill>
                  <a:srgbClr val="E2E8F0"/>
                </a:solidFill>
                <a:latin typeface="Calibri" pitchFamily="34" charset="0"/>
                <a:ea typeface="Calibri" pitchFamily="34" charset="-122"/>
                <a:cs typeface="Calibri" pitchFamily="34" charset="-120"/>
              </a:rPr>
              <a:t>Change: 368 lines, about 35 declarations</a:t>
            </a:r>
            <a:endParaRPr lang="en-US" sz="1300" dirty="0"/>
          </a:p>
          <a:p>
            <a:pPr indent="0" marL="0">
              <a:spcAft>
                <a:spcPts val="600"/>
              </a:spcAft>
              <a:buNone/>
            </a:pPr>
            <a:r>
              <a:rPr lang="en-US" sz="1300" dirty="0">
                <a:solidFill>
                  <a:srgbClr val="E2E8F0"/>
                </a:solidFill>
                <a:latin typeface="Calibri" pitchFamily="34" charset="0"/>
                <a:ea typeface="Calibri" pitchFamily="34" charset="-122"/>
                <a:cs typeface="Calibri" pitchFamily="34" charset="-120"/>
              </a:rPr>
              <a:t>Removable: about 300 lines</a:t>
            </a:r>
            <a:endParaRPr lang="en-US" sz="1300" dirty="0"/>
          </a:p>
        </p:txBody>
      </p:sp>
      <p:sp>
        <p:nvSpPr>
          <p:cNvPr id="7" name="Text 5"/>
          <p:cNvSpPr txBox="1"/>
          <p:nvPr/>
        </p:nvSpPr>
        <p:spPr>
          <a:xfrm>
            <a:off x="4846320" y="1463040"/>
            <a:ext cx="6766560" cy="36576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What can be deleted (nothing breaks)</a:t>
            </a:r>
            <a:endParaRPr lang="en-US" sz="1500" dirty="0"/>
          </a:p>
        </p:txBody>
      </p:sp>
      <p:sp>
        <p:nvSpPr>
          <p:cNvPr id="8" name="Text 6"/>
          <p:cNvSpPr txBox="1"/>
          <p:nvPr/>
        </p:nvSpPr>
        <p:spPr>
          <a:xfrm>
            <a:off x="4846320" y="1828800"/>
            <a:ext cx="6766560" cy="2103120"/>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OrderValidator interface and DefaultOrderValidator</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OrderServiceConfig and its Builder, with its own test</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OrderValidationHelper: three one-line wrappers, with its test</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OrderPlacementResult and the change of return type</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A logger on every branch, and a catch that logs and rethrows</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validate, check and reserve methods with one caller each</a:t>
            </a:r>
            <a:endParaRPr lang="en-US" sz="1250" dirty="0"/>
          </a:p>
        </p:txBody>
      </p:sp>
      <p:sp>
        <p:nvSpPr>
          <p:cNvPr id="9" name="Text 7"/>
          <p:cNvSpPr txBox="1"/>
          <p:nvPr/>
        </p:nvSpPr>
        <p:spPr>
          <a:xfrm>
            <a:off x="4846320" y="4069080"/>
            <a:ext cx="6766560" cy="36576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Found along the way, without being planted</a:t>
            </a:r>
            <a:endParaRPr lang="en-US" sz="1500" dirty="0"/>
          </a:p>
        </p:txBody>
      </p:sp>
      <p:sp>
        <p:nvSpPr>
          <p:cNvPr id="10" name="Text 8"/>
          <p:cNvSpPr txBox="1"/>
          <p:nvPr/>
        </p:nvSpPr>
        <p:spPr>
          <a:xfrm>
            <a:off x="4846320" y="4434840"/>
            <a:ext cx="6766560" cy="164592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A null check that can never run, because a log line reads the order first. The test pins an accidental NullPointerException instead of the intended exception.</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Customer IDs written to logs unsanitised, a log-forging opening created by logging nobody asked for.</a:t>
            </a:r>
            <a:endParaRPr lang="en-US" sz="1200" dirty="0"/>
          </a:p>
          <a:p>
            <a:pPr marL="342900" indent="-342900">
              <a:spcAft>
                <a:spcPts val="400"/>
              </a:spcAft>
              <a:buSzPct val="100000"/>
              <a:buChar char="•"/>
            </a:pPr>
            <a:r>
              <a:rPr lang="en-US" sz="1200" dirty="0">
                <a:solidFill>
                  <a:srgbClr val="1F2937"/>
                </a:solidFill>
                <a:latin typeface="Calibri" pitchFamily="34" charset="0"/>
                <a:ea typeface="Calibri" pitchFamily="34" charset="-122"/>
                <a:cs typeface="Calibri" pitchFamily="34" charset="-120"/>
              </a:rPr>
              <a:t>No test at exactly 100. Tests moved off the repo's own fake onto Mockito call-count assertions.</a:t>
            </a:r>
            <a:endParaRPr lang="en-US" sz="1200" dirty="0"/>
          </a:p>
        </p:txBody>
      </p:sp>
      <p:sp>
        <p:nvSpPr>
          <p:cNvPr id="11" name="Text 9"/>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Code Quality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82296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How it is used: two commands, two optional hooks</a:t>
            </a:r>
            <a:endParaRPr lang="en-US" sz="3200" dirty="0"/>
          </a:p>
        </p:txBody>
      </p:sp>
      <p:sp>
        <p:nvSpPr>
          <p:cNvPr id="3" name="Shape 1"/>
          <p:cNvSpPr/>
          <p:nvPr/>
        </p:nvSpPr>
        <p:spPr>
          <a:xfrm>
            <a:off x="640080" y="1554480"/>
            <a:ext cx="3520440" cy="3383280"/>
          </a:xfrm>
          <a:prstGeom prst="roundRect">
            <a:avLst>
              <a:gd name="adj" fmla="val 2162"/>
            </a:avLst>
          </a:prstGeom>
          <a:solidFill>
            <a:srgbClr val="F1F5F9"/>
          </a:solidFill>
          <a:ln w="9525">
            <a:solidFill>
              <a:srgbClr val="E2E8F0"/>
            </a:solidFill>
            <a:prstDash val="solid"/>
          </a:ln>
        </p:spPr>
      </p:sp>
      <p:sp>
        <p:nvSpPr>
          <p:cNvPr id="4" name="Text 2"/>
          <p:cNvSpPr txBox="1"/>
          <p:nvPr/>
        </p:nvSpPr>
        <p:spPr>
          <a:xfrm>
            <a:off x="914400" y="1783080"/>
            <a:ext cx="3017520" cy="457200"/>
          </a:xfrm>
          <a:prstGeom prst="rect">
            <a:avLst/>
          </a:prstGeom>
          <a:noFill/>
          <a:ln/>
        </p:spPr>
        <p:txBody>
          <a:bodyPr wrap="square" lIns="0" tIns="0" rIns="0" bIns="0" rtlCol="0" anchor="ctr"/>
          <a:lstStyle/>
          <a:p>
            <a:pPr indent="0" marL="0">
              <a:buNone/>
            </a:pPr>
            <a:r>
              <a:rPr lang="en-US" sz="1800" b="1" dirty="0">
                <a:solidFill>
                  <a:srgbClr val="1F2937"/>
                </a:solidFill>
                <a:latin typeface="Courier New" pitchFamily="34" charset="0"/>
                <a:ea typeface="Courier New" pitchFamily="34" charset="-122"/>
                <a:cs typeface="Courier New" pitchFamily="34" charset="-120"/>
              </a:rPr>
              <a:t>/quality-review</a:t>
            </a:r>
            <a:endParaRPr lang="en-US" sz="1800" dirty="0"/>
          </a:p>
        </p:txBody>
      </p:sp>
      <p:sp>
        <p:nvSpPr>
          <p:cNvPr id="5" name="Text 3"/>
          <p:cNvSpPr txBox="1"/>
          <p:nvPr/>
        </p:nvSpPr>
        <p:spPr>
          <a:xfrm>
            <a:off x="914400" y="2240280"/>
            <a:ext cx="301752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before pushing</a:t>
            </a:r>
            <a:endParaRPr lang="en-US" sz="1200" dirty="0"/>
          </a:p>
        </p:txBody>
      </p:sp>
      <p:sp>
        <p:nvSpPr>
          <p:cNvPr id="6" name="Text 4"/>
          <p:cNvSpPr txBox="1"/>
          <p:nvPr/>
        </p:nvSpPr>
        <p:spPr>
          <a:xfrm>
            <a:off x="914400" y="2697480"/>
            <a:ext cx="3017520" cy="210312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The four questions on the current change, each with its check. One report. Offers to apply the findings: deletions first, then fit, then tests.</a:t>
            </a:r>
            <a:endParaRPr lang="en-US" sz="1350" dirty="0"/>
          </a:p>
        </p:txBody>
      </p:sp>
      <p:sp>
        <p:nvSpPr>
          <p:cNvPr id="7" name="Shape 5"/>
          <p:cNvSpPr/>
          <p:nvPr/>
        </p:nvSpPr>
        <p:spPr>
          <a:xfrm>
            <a:off x="4370832" y="1554480"/>
            <a:ext cx="3520440" cy="3383280"/>
          </a:xfrm>
          <a:prstGeom prst="roundRect">
            <a:avLst>
              <a:gd name="adj" fmla="val 2162"/>
            </a:avLst>
          </a:prstGeom>
          <a:solidFill>
            <a:srgbClr val="0B1220"/>
          </a:solidFill>
          <a:ln w="9525">
            <a:solidFill>
              <a:srgbClr val="0B1220"/>
            </a:solidFill>
            <a:prstDash val="solid"/>
          </a:ln>
        </p:spPr>
      </p:sp>
      <p:sp>
        <p:nvSpPr>
          <p:cNvPr id="8" name="Text 6"/>
          <p:cNvSpPr txBox="1"/>
          <p:nvPr/>
        </p:nvSpPr>
        <p:spPr>
          <a:xfrm>
            <a:off x="4645152" y="1783080"/>
            <a:ext cx="3017520" cy="457200"/>
          </a:xfrm>
          <a:prstGeom prst="rect">
            <a:avLst/>
          </a:prstGeom>
          <a:noFill/>
          <a:ln/>
        </p:spPr>
        <p:txBody>
          <a:bodyPr wrap="square" lIns="0" tIns="0" rIns="0" bIns="0" rtlCol="0" anchor="ctr"/>
          <a:lstStyle/>
          <a:p>
            <a:pPr indent="0" marL="0">
              <a:buNone/>
            </a:pPr>
            <a:r>
              <a:rPr lang="en-US" sz="1800" b="1" dirty="0">
                <a:solidFill>
                  <a:srgbClr val="5EEAD4"/>
                </a:solidFill>
                <a:latin typeface="Courier New" pitchFamily="34" charset="0"/>
                <a:ea typeface="Courier New" pitchFamily="34" charset="-122"/>
                <a:cs typeface="Courier New" pitchFamily="34" charset="-120"/>
              </a:rPr>
              <a:t>/done</a:t>
            </a:r>
            <a:endParaRPr lang="en-US" sz="1800" dirty="0"/>
          </a:p>
        </p:txBody>
      </p:sp>
      <p:sp>
        <p:nvSpPr>
          <p:cNvPr id="9" name="Text 7"/>
          <p:cNvSpPr txBox="1"/>
          <p:nvPr/>
        </p:nvSpPr>
        <p:spPr>
          <a:xfrm>
            <a:off x="4645152" y="2240280"/>
            <a:ext cx="3017520" cy="36576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before saying it is done</a:t>
            </a:r>
            <a:endParaRPr lang="en-US" sz="1200" dirty="0"/>
          </a:p>
        </p:txBody>
      </p:sp>
      <p:sp>
        <p:nvSpPr>
          <p:cNvPr id="10" name="Text 8"/>
          <p:cNvSpPr txBox="1"/>
          <p:nvPr/>
        </p:nvSpPr>
        <p:spPr>
          <a:xfrm>
            <a:off x="4645152" y="2697480"/>
            <a:ext cx="3017520" cy="2103120"/>
          </a:xfrm>
          <a:prstGeom prst="rect">
            <a:avLst/>
          </a:prstGeom>
          <a:noFill/>
          <a:ln/>
        </p:spPr>
        <p:txBody>
          <a:bodyPr wrap="square" lIns="0" tIns="0" rIns="0" bIns="0" rtlCol="0" anchor="t"/>
          <a:lstStyle/>
          <a:p>
            <a:pPr indent="0" marL="0">
              <a:buNone/>
            </a:pPr>
            <a:r>
              <a:rPr lang="en-US" sz="1350" dirty="0">
                <a:solidFill>
                  <a:srgbClr val="E2E8F0"/>
                </a:solidFill>
                <a:latin typeface="Calibri" pitchFamily="34" charset="0"/>
                <a:ea typeface="Calibri" pitchFamily="34" charset="-122"/>
                <a:cs typeface="Calibri" pitchFamily="34" charset="-120"/>
              </a:rPr>
              <a:t>Build checks green. The brief confirmed with one question. Review applied. Criteria recorded on the commit. An honest summary with the ratio before and after.</a:t>
            </a:r>
            <a:endParaRPr lang="en-US" sz="1350" dirty="0"/>
          </a:p>
        </p:txBody>
      </p:sp>
      <p:sp>
        <p:nvSpPr>
          <p:cNvPr id="11" name="Shape 9"/>
          <p:cNvSpPr/>
          <p:nvPr/>
        </p:nvSpPr>
        <p:spPr>
          <a:xfrm>
            <a:off x="8101584" y="1554480"/>
            <a:ext cx="3520440" cy="3383280"/>
          </a:xfrm>
          <a:prstGeom prst="roundRect">
            <a:avLst>
              <a:gd name="adj" fmla="val 2162"/>
            </a:avLst>
          </a:prstGeom>
          <a:solidFill>
            <a:srgbClr val="F1F5F9"/>
          </a:solidFill>
          <a:ln w="9525">
            <a:solidFill>
              <a:srgbClr val="E2E8F0"/>
            </a:solidFill>
            <a:prstDash val="solid"/>
          </a:ln>
        </p:spPr>
      </p:sp>
      <p:sp>
        <p:nvSpPr>
          <p:cNvPr id="12" name="Text 10"/>
          <p:cNvSpPr txBox="1"/>
          <p:nvPr/>
        </p:nvSpPr>
        <p:spPr>
          <a:xfrm>
            <a:off x="8375904" y="1783080"/>
            <a:ext cx="3017520" cy="457200"/>
          </a:xfrm>
          <a:prstGeom prst="rect">
            <a:avLst/>
          </a:prstGeom>
          <a:noFill/>
          <a:ln/>
        </p:spPr>
        <p:txBody>
          <a:bodyPr wrap="square" lIns="0" tIns="0" rIns="0" bIns="0" rtlCol="0" anchor="ctr"/>
          <a:lstStyle/>
          <a:p>
            <a:pPr indent="0" marL="0">
              <a:buNone/>
            </a:pPr>
            <a:r>
              <a:rPr lang="en-US" sz="1800" b="1" dirty="0">
                <a:solidFill>
                  <a:srgbClr val="1F2937"/>
                </a:solidFill>
                <a:latin typeface="Courier New" pitchFamily="34" charset="0"/>
                <a:ea typeface="Courier New" pitchFamily="34" charset="-122"/>
                <a:cs typeface="Courier New" pitchFamily="34" charset="-120"/>
              </a:rPr>
              <a:t>two hooks</a:t>
            </a:r>
            <a:endParaRPr lang="en-US" sz="1800" dirty="0"/>
          </a:p>
        </p:txBody>
      </p:sp>
      <p:sp>
        <p:nvSpPr>
          <p:cNvPr id="13" name="Text 11"/>
          <p:cNvSpPr txBox="1"/>
          <p:nvPr/>
        </p:nvSpPr>
        <p:spPr>
          <a:xfrm>
            <a:off x="8375904" y="2240280"/>
            <a:ext cx="301752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optional, one line each</a:t>
            </a:r>
            <a:endParaRPr lang="en-US" sz="1200" dirty="0"/>
          </a:p>
        </p:txBody>
      </p:sp>
      <p:sp>
        <p:nvSpPr>
          <p:cNvPr id="14" name="Text 12"/>
          <p:cNvSpPr txBox="1"/>
          <p:nvPr/>
        </p:nvSpPr>
        <p:spPr>
          <a:xfrm>
            <a:off x="8375904" y="2697480"/>
            <a:ext cx="3017520" cy="210312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prompt-log records every prompt the developer types, per branch, so the brief comes from what was actually asked.</a:t>
            </a:r>
            <a:endParaRPr lang="en-US" sz="1350" dirty="0"/>
          </a:p>
          <a:p>
            <a:pPr indent="0" marL="0">
              <a:buNone/>
            </a:pPr>
            <a:endParaRPr lang="en-US" sz="1350" dirty="0"/>
          </a:p>
          <a:p>
            <a:pPr indent="0" marL="0">
              <a:buNone/>
            </a:pPr>
            <a:r>
              <a:rPr lang="en-US" sz="1350" dirty="0">
                <a:solidFill>
                  <a:srgbClr val="1F2937"/>
                </a:solidFill>
                <a:latin typeface="Calibri" pitchFamily="34" charset="0"/>
                <a:ea typeface="Calibri" pitchFamily="34" charset="-122"/>
                <a:cs typeface="Calibri" pitchFamily="34" charset="-120"/>
              </a:rPr>
              <a:t>build-checks runs the repo's own gradle check once per turn and refuses done while it fails.</a:t>
            </a:r>
            <a:endParaRPr lang="en-US" sz="1350" dirty="0"/>
          </a:p>
        </p:txBody>
      </p:sp>
      <p:sp>
        <p:nvSpPr>
          <p:cNvPr id="15" name="Text 13"/>
          <p:cNvSpPr txBox="1"/>
          <p:nvPr/>
        </p:nvSpPr>
        <p:spPr>
          <a:xfrm>
            <a:off x="640080" y="5166360"/>
            <a:ext cx="10972800" cy="45720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Always on underneath: code-quality-core (the delete list, the gate rules, the definition of done) and writing-good-tests.</a:t>
            </a:r>
            <a:endParaRPr lang="en-US" sz="1250" dirty="0"/>
          </a:p>
        </p:txBody>
      </p:sp>
      <p:sp>
        <p:nvSpPr>
          <p:cNvPr id="16" name="Text 14"/>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Code Quality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72800" cy="82296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Enforcement: three places, each doing one job</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972800" cy="914400"/>
        </p:xfrm>
        <a:graphic>
          <a:graphicData uri="http://schemas.openxmlformats.org/drawingml/2006/table">
            <a:tbl>
              <a:tblPr/>
              <a:tblGrid>
                <a:gridCol w="2011680"/>
                <a:gridCol w="5120640"/>
                <a:gridCol w="3840480"/>
              </a:tblGrid>
              <a:tr h="10515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 the harness</a:t>
                      </a:r>
                      <a:endParaRPr lang="en-US" sz="140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0B1220"/>
                    </a:solidFill>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A hook runs gradle check when the agent says it is done</a:t>
                      </a:r>
                      <a:endParaRPr lang="en-US" sz="135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Hard and deterministic. The build's rules, not ours.</a:t>
                      </a:r>
                      <a:endParaRPr lang="en-US" sz="135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tcPr>
                </a:tc>
              </a:tr>
              <a:tr h="10515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On the PR</a:t>
                      </a:r>
                      <a:endParaRPr lang="en-US" sz="140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0B1220"/>
                    </a:solidFill>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/done writes the brief, twin size, change size and ratio into the description</a:t>
                      </a:r>
                      <a:endParaRPr lang="en-US" sz="135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Visible. A PR without it is a PR where the workflow was skipped.</a:t>
                      </a:r>
                      <a:endParaRPr lang="en-US" sz="135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tcPr>
                </a:tc>
              </a:tr>
              <a:tr h="10515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 CI</a:t>
                      </a:r>
                      <a:endParaRPr lang="en-US" sz="140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0B1220"/>
                    </a:solidFill>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One paragraph added to the PR agent we already run: expect the block, run the review if missing, request changes above a ratio of 3 or on untested behaviour</a:t>
                      </a:r>
                      <a:endParaRPr lang="en-US" sz="135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solidFill>
                      <a:srgbClr val="F1F5F9"/>
                    </a:solidFill>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Authoritative. A required check, with a label for changes that are legitimately large.</a:t>
                      </a:r>
                      <a:endParaRPr lang="en-US" sz="1350" dirty="0">
                        <a:latin typeface="Calibri" charset="0"/>
                        <a:ea typeface="Calibri" charset="0"/>
                        <a:cs typeface="Calibri" charset="0"/>
                      </a:endParaRPr>
                    </a:p>
                  </a:txBody>
                  <a:tcPr marL="91440" marR="91440" marT="45720" marB="45720" anchor="ctr">
                    <a:lnL w="50800" cap="flat" cmpd="sng" algn="ctr">
                      <a:solidFill>
                        <a:srgbClr val="FFFFFF"/>
                      </a:solidFill>
                      <a:prstDash val="solid"/>
                      <a:round/>
                      <a:headEnd type="none" w="med" len="med"/>
                      <a:tailEnd type="none" w="med" len="med"/>
                    </a:lnL>
                    <a:lnR w="50800" cap="flat" cmpd="sng" algn="ctr">
                      <a:solidFill>
                        <a:srgbClr val="FFFFFF"/>
                      </a:solidFill>
                      <a:prstDash val="solid"/>
                      <a:round/>
                      <a:headEnd type="none" w="med" len="med"/>
                      <a:tailEnd type="none" w="med" len="med"/>
                    </a:lnR>
                    <a:lnT w="50800" cap="flat" cmpd="sng" algn="ctr">
                      <a:solidFill>
                        <a:srgbClr val="FFFFFF"/>
                      </a:solidFill>
                      <a:prstDash val="solid"/>
                      <a:round/>
                      <a:headEnd type="none" w="med" len="med"/>
                      <a:tailEnd type="none" w="med" len="med"/>
                    </a:lnT>
                    <a:lnB w="50800" cap="flat" cmpd="sng" algn="ctr">
                      <a:solidFill>
                        <a:srgbClr val="FFFFFF"/>
                      </a:solidFill>
                      <a:prstDash val="solid"/>
                      <a:round/>
                      <a:headEnd type="none" w="med" len="med"/>
                      <a:tailEnd type="none" w="med" len="med"/>
                    </a:lnB>
                  </a:tcPr>
                </a:tc>
              </a:tr>
            </a:tbl>
          </a:graphicData>
        </a:graphic>
      </p:graphicFrame>
      <p:sp>
        <p:nvSpPr>
          <p:cNvPr id="4" name="Shape 1"/>
          <p:cNvSpPr/>
          <p:nvPr/>
        </p:nvSpPr>
        <p:spPr>
          <a:xfrm>
            <a:off x="640080" y="4846320"/>
            <a:ext cx="10972800" cy="1097280"/>
          </a:xfrm>
          <a:prstGeom prst="roundRect">
            <a:avLst>
              <a:gd name="adj" fmla="val 6667"/>
            </a:avLst>
          </a:prstGeom>
          <a:solidFill>
            <a:srgbClr val="CCFBF1"/>
          </a:solidFill>
          <a:ln w="12700">
            <a:solidFill>
              <a:srgbClr val="CCFBF1"/>
            </a:solidFill>
            <a:prstDash val="solid"/>
          </a:ln>
        </p:spPr>
      </p:sp>
      <p:sp>
        <p:nvSpPr>
          <p:cNvPr id="5" name="Text 2"/>
          <p:cNvSpPr txBox="1"/>
          <p:nvPr/>
        </p:nvSpPr>
        <p:spPr>
          <a:xfrm>
            <a:off x="914400" y="4983480"/>
            <a:ext cx="10424160" cy="86868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A caveat, said plainly: a review by a model is not deterministic. Keep the blocking rules few and coarse (ratio above 3, untested behaviour, edits to the gate) and everything else advisory, or people will route around it. There are no new scripts in any of this.</a:t>
            </a:r>
            <a:endParaRPr lang="en-US" sz="1350" dirty="0"/>
          </a:p>
        </p:txBody>
      </p:sp>
      <p:sp>
        <p:nvSpPr>
          <p:cNvPr id="6" name="Text 3"/>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Code Quality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31520" y="640080"/>
            <a:ext cx="105156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ask: an experiment, not a policy</a:t>
            </a:r>
            <a:endParaRPr lang="en-US" sz="3600" dirty="0"/>
          </a:p>
        </p:txBody>
      </p:sp>
      <p:sp>
        <p:nvSpPr>
          <p:cNvPr id="3" name="Text 1"/>
          <p:cNvSpPr txBox="1"/>
          <p:nvPr/>
        </p:nvSpPr>
        <p:spPr>
          <a:xfrm>
            <a:off x="731520" y="1417320"/>
            <a:ext cx="10515600" cy="365760"/>
          </a:xfrm>
          <a:prstGeom prst="rect">
            <a:avLst/>
          </a:prstGeom>
          <a:noFill/>
          <a:ln/>
        </p:spPr>
        <p:txBody>
          <a:bodyPr wrap="square" lIns="0" tIns="0" rIns="0" bIns="0" rtlCol="0" anchor="ctr"/>
          <a:lstStyle/>
          <a:p>
            <a:pPr indent="0" marL="0">
              <a:buNone/>
            </a:pPr>
            <a:r>
              <a:rPr lang="en-US" sz="1400" dirty="0">
                <a:solidFill>
                  <a:srgbClr val="5EEAD4"/>
                </a:solidFill>
                <a:latin typeface="Calibri" pitchFamily="34" charset="0"/>
                <a:ea typeface="Calibri" pitchFamily="34" charset="-122"/>
                <a:cs typeface="Calibri" pitchFamily="34" charset="-120"/>
              </a:rPr>
              <a:t>Cost to keep: about 300 lines of markdown, no scripts, no CI changes. When the models move, we edit a paragraph.</a:t>
            </a:r>
            <a:endParaRPr lang="en-US" sz="1400" dirty="0"/>
          </a:p>
        </p:txBody>
      </p:sp>
      <p:sp>
        <p:nvSpPr>
          <p:cNvPr id="4" name="Shape 2"/>
          <p:cNvSpPr/>
          <p:nvPr/>
        </p:nvSpPr>
        <p:spPr>
          <a:xfrm>
            <a:off x="731520" y="2148840"/>
            <a:ext cx="457200" cy="457200"/>
          </a:xfrm>
          <a:prstGeom prst="ellipse">
            <a:avLst/>
          </a:prstGeom>
          <a:solidFill>
            <a:srgbClr val="0F766E"/>
          </a:solidFill>
          <a:ln w="12700">
            <a:solidFill>
              <a:srgbClr val="0F766E"/>
            </a:solidFill>
            <a:prstDash val="solid"/>
          </a:ln>
        </p:spPr>
      </p:sp>
      <p:sp>
        <p:nvSpPr>
          <p:cNvPr id="5" name="Text 3"/>
          <p:cNvSpPr txBox="1"/>
          <p:nvPr/>
        </p:nvSpPr>
        <p:spPr>
          <a:xfrm>
            <a:off x="731520" y="2148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417320" y="2103120"/>
            <a:ext cx="2743200" cy="54864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Next 50 PRs</a:t>
            </a:r>
            <a:endParaRPr lang="en-US" sz="1900" dirty="0"/>
          </a:p>
        </p:txBody>
      </p:sp>
      <p:sp>
        <p:nvSpPr>
          <p:cNvPr id="7" name="Text 5"/>
          <p:cNvSpPr txBox="1"/>
          <p:nvPr/>
        </p:nvSpPr>
        <p:spPr>
          <a:xfrm>
            <a:off x="4206240" y="2103120"/>
            <a:ext cx="7406640" cy="91440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Developers run /done. The brief and the ratio land in every PR description.</a:t>
            </a:r>
            <a:endParaRPr lang="en-US" sz="1400" dirty="0"/>
          </a:p>
        </p:txBody>
      </p:sp>
      <p:sp>
        <p:nvSpPr>
          <p:cNvPr id="8" name="Shape 6"/>
          <p:cNvSpPr/>
          <p:nvPr/>
        </p:nvSpPr>
        <p:spPr>
          <a:xfrm>
            <a:off x="731520" y="3154680"/>
            <a:ext cx="457200" cy="457200"/>
          </a:xfrm>
          <a:prstGeom prst="ellipse">
            <a:avLst/>
          </a:prstGeom>
          <a:solidFill>
            <a:srgbClr val="0F766E"/>
          </a:solidFill>
          <a:ln w="12700">
            <a:solidFill>
              <a:srgbClr val="0F766E"/>
            </a:solidFill>
            <a:prstDash val="solid"/>
          </a:ln>
        </p:spPr>
      </p:sp>
      <p:sp>
        <p:nvSpPr>
          <p:cNvPr id="9" name="Text 7"/>
          <p:cNvSpPr txBox="1"/>
          <p:nvPr/>
        </p:nvSpPr>
        <p:spPr>
          <a:xfrm>
            <a:off x="731520" y="3154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417320" y="3108960"/>
            <a:ext cx="2743200" cy="54864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Calibrate first</a:t>
            </a:r>
            <a:endParaRPr lang="en-US" sz="1900" dirty="0"/>
          </a:p>
        </p:txBody>
      </p:sp>
      <p:sp>
        <p:nvSpPr>
          <p:cNvPr id="11" name="Text 9"/>
          <p:cNvSpPr txBox="1"/>
          <p:nvPr/>
        </p:nvSpPr>
        <p:spPr>
          <a:xfrm>
            <a:off x="4206240" y="3108960"/>
            <a:ext cx="7406640" cy="91440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Run the review on 20 to 30 already merged PRs and compare with what human reviewers actually said. That answers the question of whether we have really seen these problems, with numbers.</a:t>
            </a:r>
            <a:endParaRPr lang="en-US" sz="1400" dirty="0"/>
          </a:p>
        </p:txBody>
      </p:sp>
      <p:sp>
        <p:nvSpPr>
          <p:cNvPr id="12" name="Shape 10"/>
          <p:cNvSpPr/>
          <p:nvPr/>
        </p:nvSpPr>
        <p:spPr>
          <a:xfrm>
            <a:off x="731520" y="4160520"/>
            <a:ext cx="457200" cy="457200"/>
          </a:xfrm>
          <a:prstGeom prst="ellipse">
            <a:avLst/>
          </a:prstGeom>
          <a:solidFill>
            <a:srgbClr val="0F766E"/>
          </a:solidFill>
          <a:ln w="12700">
            <a:solidFill>
              <a:srgbClr val="0F766E"/>
            </a:solidFill>
            <a:prstDash val="solid"/>
          </a:ln>
        </p:spPr>
      </p:sp>
      <p:sp>
        <p:nvSpPr>
          <p:cNvPr id="13" name="Text 11"/>
          <p:cNvSpPr txBox="1"/>
          <p:nvPr/>
        </p:nvSpPr>
        <p:spPr>
          <a:xfrm>
            <a:off x="73152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417320" y="4114800"/>
            <a:ext cx="2743200" cy="54864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Measure</a:t>
            </a:r>
            <a:endParaRPr lang="en-US" sz="1900" dirty="0"/>
          </a:p>
        </p:txBody>
      </p:sp>
      <p:sp>
        <p:nvSpPr>
          <p:cNvPr id="15" name="Text 13"/>
          <p:cNvSpPr txBox="1"/>
          <p:nvPr/>
        </p:nvSpPr>
        <p:spPr>
          <a:xfrm>
            <a:off x="4206240" y="4114800"/>
            <a:ext cx="7406640" cy="91440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The median ratio of merged PRs, and the number of fit and test findings, tracked for one quarter.</a:t>
            </a:r>
            <a:endParaRPr lang="en-US" sz="1400" dirty="0"/>
          </a:p>
        </p:txBody>
      </p:sp>
      <p:sp>
        <p:nvSpPr>
          <p:cNvPr id="16" name="Shape 14"/>
          <p:cNvSpPr/>
          <p:nvPr/>
        </p:nvSpPr>
        <p:spPr>
          <a:xfrm>
            <a:off x="731520" y="5166360"/>
            <a:ext cx="457200" cy="457200"/>
          </a:xfrm>
          <a:prstGeom prst="ellipse">
            <a:avLst/>
          </a:prstGeom>
          <a:solidFill>
            <a:srgbClr val="0F766E"/>
          </a:solidFill>
          <a:ln w="12700">
            <a:solidFill>
              <a:srgbClr val="0F766E"/>
            </a:solidFill>
            <a:prstDash val="solid"/>
          </a:ln>
        </p:spPr>
      </p:sp>
      <p:sp>
        <p:nvSpPr>
          <p:cNvPr id="17" name="Text 15"/>
          <p:cNvSpPr txBox="1"/>
          <p:nvPr/>
        </p:nvSpPr>
        <p:spPr>
          <a:xfrm>
            <a:off x="731520" y="5166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417320" y="5120640"/>
            <a:ext cx="2743200" cy="54864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Decide</a:t>
            </a:r>
            <a:endParaRPr lang="en-US" sz="1900" dirty="0"/>
          </a:p>
        </p:txBody>
      </p:sp>
      <p:sp>
        <p:nvSpPr>
          <p:cNvPr id="19" name="Text 17"/>
          <p:cNvSpPr txBox="1"/>
          <p:nvPr/>
        </p:nvSpPr>
        <p:spPr>
          <a:xfrm>
            <a:off x="4206240" y="5120640"/>
            <a:ext cx="7406640" cy="91440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If the numbers move, add the CI paragraph and call it a standard. If they do not, delete the pack. Re-run the calibration set after any model change.</a:t>
            </a:r>
            <a:endParaRPr lang="en-US" sz="1400" dirty="0"/>
          </a:p>
        </p:txBody>
      </p:sp>
      <p:sp>
        <p:nvSpPr>
          <p:cNvPr id="20" name="Text 18"/>
          <p:cNvSpPr txBox="1"/>
          <p:nvPr/>
        </p:nvSpPr>
        <p:spPr>
          <a:xfrm>
            <a:off x="640080" y="6400800"/>
            <a:ext cx="54864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Code Quality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2026-09-15T16:43:23Z</dcterms:created>
  <dcterms:modified xsi:type="dcterms:W3CDTF">2026-09-15T16:43:23Z</dcterms:modified>
</cp:coreProperties>
</file>